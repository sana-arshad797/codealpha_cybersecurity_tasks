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ton" pitchFamily="2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quada One" panose="020B0604020202020204" charset="0"/>
      <p:regular r:id="rId19"/>
    </p:embeddedFont>
    <p:embeddedFont>
      <p:font typeface="Varela Round" panose="020B0604020202020204" charset="-79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.svg"/><Relationship Id="rId5" Type="http://schemas.openxmlformats.org/officeDocument/2006/relationships/image" Target="../media/image10.sv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4680" y="1041831"/>
            <a:ext cx="8860143" cy="374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8"/>
              </a:lnSpc>
            </a:pPr>
            <a:r>
              <a:rPr lang="en-US" sz="60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PHISHING Awareness Training</a:t>
            </a:r>
            <a:endParaRPr lang="en-US" sz="15248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60"/>
              </a:lnSpc>
            </a:pPr>
            <a:endParaRPr lang="en-US" sz="15248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6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Anton"/>
                <a:cs typeface="Times New Roman" panose="02020603050405020304" pitchFamily="18" charset="0"/>
                <a:sym typeface="Anton"/>
              </a:rPr>
              <a:t>#CodeAlpha Internship Task 2</a:t>
            </a:r>
          </a:p>
          <a:p>
            <a:pPr algn="l">
              <a:lnSpc>
                <a:spcPts val="2760"/>
              </a:lnSpc>
            </a:pPr>
            <a:endParaRPr lang="en-US" sz="36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60"/>
              </a:lnSpc>
            </a:pPr>
            <a:endParaRPr lang="en-US" sz="345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60"/>
              </a:lnSpc>
            </a:pPr>
            <a:endParaRPr lang="en-US" sz="345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60"/>
              </a:lnSpc>
            </a:pPr>
            <a:endParaRPr lang="en-US" sz="345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713169" y="7077566"/>
            <a:ext cx="8747026" cy="1077384"/>
            <a:chOff x="0" y="0"/>
            <a:chExt cx="2303743" cy="2837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03743" cy="283756"/>
            </a:xfrm>
            <a:custGeom>
              <a:avLst/>
              <a:gdLst/>
              <a:ahLst/>
              <a:cxnLst/>
              <a:rect l="l" t="t" r="r" b="b"/>
              <a:pathLst>
                <a:path w="2303743" h="283756">
                  <a:moveTo>
                    <a:pt x="88509" y="0"/>
                  </a:moveTo>
                  <a:lnTo>
                    <a:pt x="2215234" y="0"/>
                  </a:lnTo>
                  <a:cubicBezTo>
                    <a:pt x="2238709" y="0"/>
                    <a:pt x="2261221" y="9325"/>
                    <a:pt x="2277820" y="25924"/>
                  </a:cubicBezTo>
                  <a:cubicBezTo>
                    <a:pt x="2294418" y="42522"/>
                    <a:pt x="2303743" y="65035"/>
                    <a:pt x="2303743" y="88509"/>
                  </a:cubicBezTo>
                  <a:lnTo>
                    <a:pt x="2303743" y="195246"/>
                  </a:lnTo>
                  <a:cubicBezTo>
                    <a:pt x="2303743" y="218720"/>
                    <a:pt x="2294418" y="241233"/>
                    <a:pt x="2277820" y="257832"/>
                  </a:cubicBezTo>
                  <a:cubicBezTo>
                    <a:pt x="2261221" y="274431"/>
                    <a:pt x="2238709" y="283756"/>
                    <a:pt x="2215234" y="283756"/>
                  </a:cubicBezTo>
                  <a:lnTo>
                    <a:pt x="88509" y="283756"/>
                  </a:lnTo>
                  <a:cubicBezTo>
                    <a:pt x="65035" y="283756"/>
                    <a:pt x="42522" y="274431"/>
                    <a:pt x="25924" y="257832"/>
                  </a:cubicBezTo>
                  <a:cubicBezTo>
                    <a:pt x="9325" y="241233"/>
                    <a:pt x="0" y="218720"/>
                    <a:pt x="0" y="195246"/>
                  </a:cubicBezTo>
                  <a:lnTo>
                    <a:pt x="0" y="88509"/>
                  </a:lnTo>
                  <a:cubicBezTo>
                    <a:pt x="0" y="65035"/>
                    <a:pt x="9325" y="42522"/>
                    <a:pt x="25924" y="25924"/>
                  </a:cubicBezTo>
                  <a:cubicBezTo>
                    <a:pt x="42522" y="9325"/>
                    <a:pt x="65035" y="0"/>
                    <a:pt x="8850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03743" cy="340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31129" y="7246847"/>
            <a:ext cx="1490161" cy="738822"/>
            <a:chOff x="0" y="0"/>
            <a:chExt cx="392470" cy="194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2470" cy="194587"/>
            </a:xfrm>
            <a:custGeom>
              <a:avLst/>
              <a:gdLst/>
              <a:ahLst/>
              <a:cxnLst/>
              <a:rect l="l" t="t" r="r" b="b"/>
              <a:pathLst>
                <a:path w="392470" h="194587">
                  <a:moveTo>
                    <a:pt x="97293" y="0"/>
                  </a:moveTo>
                  <a:lnTo>
                    <a:pt x="295177" y="0"/>
                  </a:lnTo>
                  <a:cubicBezTo>
                    <a:pt x="348911" y="0"/>
                    <a:pt x="392470" y="43560"/>
                    <a:pt x="392470" y="97293"/>
                  </a:cubicBezTo>
                  <a:lnTo>
                    <a:pt x="392470" y="97293"/>
                  </a:lnTo>
                  <a:cubicBezTo>
                    <a:pt x="392470" y="151027"/>
                    <a:pt x="348911" y="194587"/>
                    <a:pt x="295177" y="194587"/>
                  </a:cubicBezTo>
                  <a:lnTo>
                    <a:pt x="97293" y="194587"/>
                  </a:lnTo>
                  <a:cubicBezTo>
                    <a:pt x="43560" y="194587"/>
                    <a:pt x="0" y="151027"/>
                    <a:pt x="0" y="97293"/>
                  </a:cubicBezTo>
                  <a:lnTo>
                    <a:pt x="0" y="97293"/>
                  </a:lnTo>
                  <a:cubicBezTo>
                    <a:pt x="0" y="43560"/>
                    <a:pt x="43560" y="0"/>
                    <a:pt x="972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92470" cy="251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31129" y="7246847"/>
            <a:ext cx="738822" cy="73882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869452" y="1928732"/>
            <a:ext cx="5371410" cy="6429535"/>
          </a:xfrm>
          <a:custGeom>
            <a:avLst/>
            <a:gdLst/>
            <a:ahLst/>
            <a:cxnLst/>
            <a:rect l="l" t="t" r="r" b="b"/>
            <a:pathLst>
              <a:path w="5371410" h="6429535">
                <a:moveTo>
                  <a:pt x="0" y="0"/>
                </a:moveTo>
                <a:lnTo>
                  <a:pt x="5371410" y="0"/>
                </a:lnTo>
                <a:lnTo>
                  <a:pt x="5371410" y="6429536"/>
                </a:lnTo>
                <a:lnTo>
                  <a:pt x="0" y="6429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547" r="-3172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267780" y="7318760"/>
            <a:ext cx="602192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Think before click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91284" y="1632576"/>
            <a:ext cx="7491310" cy="7021849"/>
            <a:chOff x="0" y="0"/>
            <a:chExt cx="1973020" cy="1849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3020" cy="1849376"/>
            </a:xfrm>
            <a:custGeom>
              <a:avLst/>
              <a:gdLst/>
              <a:ahLst/>
              <a:cxnLst/>
              <a:rect l="l" t="t" r="r" b="b"/>
              <a:pathLst>
                <a:path w="1973020" h="1849376">
                  <a:moveTo>
                    <a:pt x="69241" y="0"/>
                  </a:moveTo>
                  <a:lnTo>
                    <a:pt x="1903779" y="0"/>
                  </a:lnTo>
                  <a:cubicBezTo>
                    <a:pt x="1942019" y="0"/>
                    <a:pt x="1973020" y="31000"/>
                    <a:pt x="1973020" y="69241"/>
                  </a:cubicBezTo>
                  <a:lnTo>
                    <a:pt x="1973020" y="1780134"/>
                  </a:lnTo>
                  <a:cubicBezTo>
                    <a:pt x="1973020" y="1818375"/>
                    <a:pt x="1942019" y="1849376"/>
                    <a:pt x="1903779" y="1849376"/>
                  </a:cubicBezTo>
                  <a:lnTo>
                    <a:pt x="69241" y="1849376"/>
                  </a:lnTo>
                  <a:cubicBezTo>
                    <a:pt x="31000" y="1849376"/>
                    <a:pt x="0" y="1818375"/>
                    <a:pt x="0" y="1780134"/>
                  </a:cubicBezTo>
                  <a:lnTo>
                    <a:pt x="0" y="69241"/>
                  </a:lnTo>
                  <a:cubicBezTo>
                    <a:pt x="0" y="31000"/>
                    <a:pt x="31000" y="0"/>
                    <a:pt x="69241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73020" cy="1906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4171" y="1849056"/>
            <a:ext cx="7313372" cy="311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0"/>
              </a:lnSpc>
            </a:pPr>
            <a:r>
              <a:rPr lang="en-US" sz="14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What is Phishing?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5739" y="2343404"/>
            <a:ext cx="6262401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Phishing is an online scam where fake emails or messages trick you into sharing passwords or personal data.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559150" y="5138674"/>
            <a:ext cx="5908989" cy="2667461"/>
            <a:chOff x="0" y="0"/>
            <a:chExt cx="915457" cy="4132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5457" cy="413260"/>
            </a:xfrm>
            <a:custGeom>
              <a:avLst/>
              <a:gdLst/>
              <a:ahLst/>
              <a:cxnLst/>
              <a:rect l="l" t="t" r="r" b="b"/>
              <a:pathLst>
                <a:path w="915457" h="413260">
                  <a:moveTo>
                    <a:pt x="65510" y="0"/>
                  </a:moveTo>
                  <a:lnTo>
                    <a:pt x="849947" y="0"/>
                  </a:lnTo>
                  <a:cubicBezTo>
                    <a:pt x="886127" y="0"/>
                    <a:pt x="915457" y="29330"/>
                    <a:pt x="915457" y="65510"/>
                  </a:cubicBezTo>
                  <a:lnTo>
                    <a:pt x="915457" y="347750"/>
                  </a:lnTo>
                  <a:cubicBezTo>
                    <a:pt x="915457" y="383930"/>
                    <a:pt x="886127" y="413260"/>
                    <a:pt x="849947" y="413260"/>
                  </a:cubicBezTo>
                  <a:lnTo>
                    <a:pt x="65510" y="413260"/>
                  </a:lnTo>
                  <a:cubicBezTo>
                    <a:pt x="29330" y="413260"/>
                    <a:pt x="0" y="383930"/>
                    <a:pt x="0" y="347750"/>
                  </a:cubicBezTo>
                  <a:lnTo>
                    <a:pt x="0" y="65510"/>
                  </a:lnTo>
                  <a:cubicBezTo>
                    <a:pt x="0" y="29330"/>
                    <a:pt x="29330" y="0"/>
                    <a:pt x="65510" y="0"/>
                  </a:cubicBezTo>
                  <a:close/>
                </a:path>
              </a:pathLst>
            </a:custGeom>
            <a:blipFill>
              <a:blip r:embed="rId2"/>
              <a:stretch>
                <a:fillRect t="-12302" b="-1230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348" y="5538546"/>
            <a:ext cx="6254625" cy="1665273"/>
            <a:chOff x="0" y="0"/>
            <a:chExt cx="1647309" cy="438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3975" y="5732178"/>
            <a:ext cx="1278010" cy="127801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9348" y="7395311"/>
            <a:ext cx="6254625" cy="1665273"/>
            <a:chOff x="0" y="0"/>
            <a:chExt cx="1647309" cy="4385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975" y="7588943"/>
            <a:ext cx="1278010" cy="127801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26546" y="5538546"/>
            <a:ext cx="6254625" cy="1665273"/>
            <a:chOff x="0" y="0"/>
            <a:chExt cx="1647309" cy="4385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81173" y="5732178"/>
            <a:ext cx="1278010" cy="127801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26546" y="7395311"/>
            <a:ext cx="6254625" cy="1665273"/>
            <a:chOff x="0" y="0"/>
            <a:chExt cx="1647309" cy="4385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81173" y="7588943"/>
            <a:ext cx="1278010" cy="127801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23975" y="1759816"/>
            <a:ext cx="14069961" cy="165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0"/>
              </a:lnSpc>
            </a:pPr>
            <a:r>
              <a:rPr lang="en-US" sz="14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How it works?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57928" y="5885408"/>
            <a:ext cx="408427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Attacker crafts fake</a:t>
            </a:r>
          </a:p>
          <a:p>
            <a:pPr algn="l">
              <a:lnSpc>
                <a:spcPts val="384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message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57928" y="7742172"/>
            <a:ext cx="408427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Victim receives &amp;</a:t>
            </a:r>
          </a:p>
          <a:p>
            <a:pPr algn="l">
              <a:lnSpc>
                <a:spcPts val="384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trusts it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15126" y="5885408"/>
            <a:ext cx="408427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Victims clicks/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submits data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5126" y="7742172"/>
            <a:ext cx="432775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Attackers steal information</a:t>
            </a:r>
          </a:p>
        </p:txBody>
      </p:sp>
      <p:sp>
        <p:nvSpPr>
          <p:cNvPr id="31" name="Freeform 31"/>
          <p:cNvSpPr/>
          <p:nvPr/>
        </p:nvSpPr>
        <p:spPr>
          <a:xfrm flipH="1">
            <a:off x="12542662" y="1028700"/>
            <a:ext cx="7694364" cy="5525952"/>
          </a:xfrm>
          <a:custGeom>
            <a:avLst/>
            <a:gdLst/>
            <a:ahLst/>
            <a:cxnLst/>
            <a:rect l="l" t="t" r="r" b="b"/>
            <a:pathLst>
              <a:path w="7694364" h="5525952">
                <a:moveTo>
                  <a:pt x="7694364" y="0"/>
                </a:moveTo>
                <a:lnTo>
                  <a:pt x="0" y="0"/>
                </a:lnTo>
                <a:lnTo>
                  <a:pt x="0" y="5525952"/>
                </a:lnTo>
                <a:lnTo>
                  <a:pt x="7694364" y="5525952"/>
                </a:lnTo>
                <a:lnTo>
                  <a:pt x="76943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0" y="1679880"/>
            <a:ext cx="7400005" cy="6882460"/>
            <a:chOff x="0" y="0"/>
            <a:chExt cx="1948972" cy="1812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8973" cy="1812665"/>
            </a:xfrm>
            <a:custGeom>
              <a:avLst/>
              <a:gdLst/>
              <a:ahLst/>
              <a:cxnLst/>
              <a:rect l="l" t="t" r="r" b="b"/>
              <a:pathLst>
                <a:path w="1948973" h="1812665">
                  <a:moveTo>
                    <a:pt x="41848" y="0"/>
                  </a:moveTo>
                  <a:lnTo>
                    <a:pt x="1907124" y="0"/>
                  </a:lnTo>
                  <a:cubicBezTo>
                    <a:pt x="1918223" y="0"/>
                    <a:pt x="1928867" y="4409"/>
                    <a:pt x="1936716" y="12257"/>
                  </a:cubicBezTo>
                  <a:cubicBezTo>
                    <a:pt x="1944563" y="20105"/>
                    <a:pt x="1948973" y="30749"/>
                    <a:pt x="1948973" y="41848"/>
                  </a:cubicBezTo>
                  <a:lnTo>
                    <a:pt x="1948973" y="1770816"/>
                  </a:lnTo>
                  <a:cubicBezTo>
                    <a:pt x="1948973" y="1781915"/>
                    <a:pt x="1944563" y="1792559"/>
                    <a:pt x="1936716" y="1800408"/>
                  </a:cubicBezTo>
                  <a:cubicBezTo>
                    <a:pt x="1928867" y="1808256"/>
                    <a:pt x="1918223" y="1812665"/>
                    <a:pt x="1907124" y="1812665"/>
                  </a:cubicBezTo>
                  <a:lnTo>
                    <a:pt x="41848" y="1812665"/>
                  </a:lnTo>
                  <a:cubicBezTo>
                    <a:pt x="30749" y="1812665"/>
                    <a:pt x="20105" y="1808256"/>
                    <a:pt x="12257" y="1800408"/>
                  </a:cubicBezTo>
                  <a:cubicBezTo>
                    <a:pt x="4409" y="1792559"/>
                    <a:pt x="0" y="1781915"/>
                    <a:pt x="0" y="1770816"/>
                  </a:cubicBezTo>
                  <a:lnTo>
                    <a:pt x="0" y="41848"/>
                  </a:lnTo>
                  <a:cubicBezTo>
                    <a:pt x="0" y="30749"/>
                    <a:pt x="4409" y="20105"/>
                    <a:pt x="12257" y="12257"/>
                  </a:cubicBezTo>
                  <a:cubicBezTo>
                    <a:pt x="20105" y="4409"/>
                    <a:pt x="30749" y="0"/>
                    <a:pt x="41848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48972" cy="1869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59344" y="2389847"/>
            <a:ext cx="879452" cy="87945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59344" y="3826030"/>
            <a:ext cx="879452" cy="87945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59344" y="5262213"/>
            <a:ext cx="879452" cy="87945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59344" y="6698397"/>
            <a:ext cx="879452" cy="87945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81983" y="2974100"/>
            <a:ext cx="6412546" cy="457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0"/>
              </a:lnSpc>
            </a:pPr>
            <a:r>
              <a:rPr lang="en-US" sz="12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Types of </a:t>
            </a:r>
          </a:p>
          <a:p>
            <a:pPr algn="l">
              <a:lnSpc>
                <a:spcPts val="11520"/>
              </a:lnSpc>
            </a:pPr>
            <a:r>
              <a:rPr lang="en-US" sz="12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Phishing </a:t>
            </a:r>
          </a:p>
          <a:p>
            <a:pPr algn="l">
              <a:lnSpc>
                <a:spcPts val="11520"/>
              </a:lnSpc>
            </a:pPr>
            <a:r>
              <a:rPr lang="en-US" sz="12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Attacks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27262" y="2251087"/>
            <a:ext cx="470551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Deceptive Phishing (Bulk Email)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34189" y="3647646"/>
            <a:ext cx="4048889" cy="170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Spear Phishing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(Whaling)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827262" y="5121110"/>
            <a:ext cx="4048889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Smishing(SMS Phishing)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27262" y="6588213"/>
            <a:ext cx="4048889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Business Email Compromise(BEC)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352188"/>
            <a:ext cx="16230600" cy="7415335"/>
            <a:chOff x="0" y="0"/>
            <a:chExt cx="2514545" cy="11488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4545" cy="1148829"/>
            </a:xfrm>
            <a:custGeom>
              <a:avLst/>
              <a:gdLst/>
              <a:ahLst/>
              <a:cxnLst/>
              <a:rect l="l" t="t" r="r" b="b"/>
              <a:pathLst>
                <a:path w="2514545" h="1148829">
                  <a:moveTo>
                    <a:pt x="47700" y="0"/>
                  </a:moveTo>
                  <a:lnTo>
                    <a:pt x="2466845" y="0"/>
                  </a:lnTo>
                  <a:cubicBezTo>
                    <a:pt x="2479496" y="0"/>
                    <a:pt x="2491628" y="5025"/>
                    <a:pt x="2500574" y="13971"/>
                  </a:cubicBezTo>
                  <a:cubicBezTo>
                    <a:pt x="2509519" y="22916"/>
                    <a:pt x="2514545" y="35049"/>
                    <a:pt x="2514545" y="47700"/>
                  </a:cubicBezTo>
                  <a:lnTo>
                    <a:pt x="2514545" y="1101130"/>
                  </a:lnTo>
                  <a:cubicBezTo>
                    <a:pt x="2514545" y="1113781"/>
                    <a:pt x="2509519" y="1125913"/>
                    <a:pt x="2500574" y="1134859"/>
                  </a:cubicBezTo>
                  <a:cubicBezTo>
                    <a:pt x="2491628" y="1143804"/>
                    <a:pt x="2479496" y="1148829"/>
                    <a:pt x="2466845" y="1148829"/>
                  </a:cubicBezTo>
                  <a:lnTo>
                    <a:pt x="47700" y="1148829"/>
                  </a:lnTo>
                  <a:cubicBezTo>
                    <a:pt x="35049" y="1148829"/>
                    <a:pt x="22916" y="1143804"/>
                    <a:pt x="13971" y="1134859"/>
                  </a:cubicBezTo>
                  <a:cubicBezTo>
                    <a:pt x="5025" y="1125913"/>
                    <a:pt x="0" y="1113781"/>
                    <a:pt x="0" y="110113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blipFill>
              <a:blip r:embed="rId2"/>
              <a:stretch>
                <a:fillRect t="-11559" b="-1155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74073" y="5812462"/>
            <a:ext cx="4795917" cy="3445838"/>
            <a:chOff x="0" y="0"/>
            <a:chExt cx="1263122" cy="9075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22" cy="907546"/>
            </a:xfrm>
            <a:custGeom>
              <a:avLst/>
              <a:gdLst/>
              <a:ahLst/>
              <a:cxnLst/>
              <a:rect l="l" t="t" r="r" b="b"/>
              <a:pathLst>
                <a:path w="1263122" h="907546">
                  <a:moveTo>
                    <a:pt x="96856" y="0"/>
                  </a:moveTo>
                  <a:lnTo>
                    <a:pt x="1166266" y="0"/>
                  </a:lnTo>
                  <a:cubicBezTo>
                    <a:pt x="1191954" y="0"/>
                    <a:pt x="1216589" y="10204"/>
                    <a:pt x="1234754" y="28369"/>
                  </a:cubicBezTo>
                  <a:cubicBezTo>
                    <a:pt x="1252918" y="46533"/>
                    <a:pt x="1263122" y="71168"/>
                    <a:pt x="1263122" y="96856"/>
                  </a:cubicBezTo>
                  <a:lnTo>
                    <a:pt x="1263122" y="810689"/>
                  </a:lnTo>
                  <a:cubicBezTo>
                    <a:pt x="1263122" y="836377"/>
                    <a:pt x="1252918" y="861013"/>
                    <a:pt x="1234754" y="879177"/>
                  </a:cubicBezTo>
                  <a:cubicBezTo>
                    <a:pt x="1216589" y="897341"/>
                    <a:pt x="1191954" y="907546"/>
                    <a:pt x="1166266" y="907546"/>
                  </a:cubicBezTo>
                  <a:lnTo>
                    <a:pt x="96856" y="907546"/>
                  </a:lnTo>
                  <a:cubicBezTo>
                    <a:pt x="71168" y="907546"/>
                    <a:pt x="46533" y="897341"/>
                    <a:pt x="28369" y="879177"/>
                  </a:cubicBezTo>
                  <a:cubicBezTo>
                    <a:pt x="10204" y="861013"/>
                    <a:pt x="0" y="836377"/>
                    <a:pt x="0" y="810689"/>
                  </a:cubicBezTo>
                  <a:lnTo>
                    <a:pt x="0" y="96856"/>
                  </a:lnTo>
                  <a:cubicBezTo>
                    <a:pt x="0" y="71168"/>
                    <a:pt x="10204" y="46533"/>
                    <a:pt x="28369" y="28369"/>
                  </a:cubicBezTo>
                  <a:cubicBezTo>
                    <a:pt x="46533" y="10204"/>
                    <a:pt x="71168" y="0"/>
                    <a:pt x="96856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263122" cy="964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Check sender 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domains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233026" y="5173457"/>
            <a:ext cx="1278010" cy="127801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72062" y="2155247"/>
            <a:ext cx="14343877" cy="119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10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How to spot Phishing Attack?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90462" y="5812462"/>
            <a:ext cx="4795917" cy="3445838"/>
            <a:chOff x="0" y="0"/>
            <a:chExt cx="1263122" cy="9075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3122" cy="907546"/>
            </a:xfrm>
            <a:custGeom>
              <a:avLst/>
              <a:gdLst/>
              <a:ahLst/>
              <a:cxnLst/>
              <a:rect l="l" t="t" r="r" b="b"/>
              <a:pathLst>
                <a:path w="1263122" h="907546">
                  <a:moveTo>
                    <a:pt x="96856" y="0"/>
                  </a:moveTo>
                  <a:lnTo>
                    <a:pt x="1166266" y="0"/>
                  </a:lnTo>
                  <a:cubicBezTo>
                    <a:pt x="1191954" y="0"/>
                    <a:pt x="1216589" y="10204"/>
                    <a:pt x="1234754" y="28369"/>
                  </a:cubicBezTo>
                  <a:cubicBezTo>
                    <a:pt x="1252918" y="46533"/>
                    <a:pt x="1263122" y="71168"/>
                    <a:pt x="1263122" y="96856"/>
                  </a:cubicBezTo>
                  <a:lnTo>
                    <a:pt x="1263122" y="810689"/>
                  </a:lnTo>
                  <a:cubicBezTo>
                    <a:pt x="1263122" y="836377"/>
                    <a:pt x="1252918" y="861013"/>
                    <a:pt x="1234754" y="879177"/>
                  </a:cubicBezTo>
                  <a:cubicBezTo>
                    <a:pt x="1216589" y="897341"/>
                    <a:pt x="1191954" y="907546"/>
                    <a:pt x="1166266" y="907546"/>
                  </a:cubicBezTo>
                  <a:lnTo>
                    <a:pt x="96856" y="907546"/>
                  </a:lnTo>
                  <a:cubicBezTo>
                    <a:pt x="71168" y="907546"/>
                    <a:pt x="46533" y="897341"/>
                    <a:pt x="28369" y="879177"/>
                  </a:cubicBezTo>
                  <a:cubicBezTo>
                    <a:pt x="10204" y="861013"/>
                    <a:pt x="0" y="836377"/>
                    <a:pt x="0" y="810689"/>
                  </a:cubicBezTo>
                  <a:lnTo>
                    <a:pt x="0" y="96856"/>
                  </a:lnTo>
                  <a:cubicBezTo>
                    <a:pt x="0" y="71168"/>
                    <a:pt x="10204" y="46533"/>
                    <a:pt x="28369" y="28369"/>
                  </a:cubicBezTo>
                  <a:cubicBezTo>
                    <a:pt x="46533" y="10204"/>
                    <a:pt x="71168" y="0"/>
                    <a:pt x="96856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263122" cy="964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449415" y="5173457"/>
            <a:ext cx="1278010" cy="12780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151476" y="6916855"/>
            <a:ext cx="398504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Verify suspicious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links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06851" y="5812462"/>
            <a:ext cx="4795917" cy="3445838"/>
            <a:chOff x="0" y="0"/>
            <a:chExt cx="1263122" cy="9075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63122" cy="907546"/>
            </a:xfrm>
            <a:custGeom>
              <a:avLst/>
              <a:gdLst/>
              <a:ahLst/>
              <a:cxnLst/>
              <a:rect l="l" t="t" r="r" b="b"/>
              <a:pathLst>
                <a:path w="1263122" h="907546">
                  <a:moveTo>
                    <a:pt x="96856" y="0"/>
                  </a:moveTo>
                  <a:lnTo>
                    <a:pt x="1166266" y="0"/>
                  </a:lnTo>
                  <a:cubicBezTo>
                    <a:pt x="1191954" y="0"/>
                    <a:pt x="1216589" y="10204"/>
                    <a:pt x="1234754" y="28369"/>
                  </a:cubicBezTo>
                  <a:cubicBezTo>
                    <a:pt x="1252918" y="46533"/>
                    <a:pt x="1263122" y="71168"/>
                    <a:pt x="1263122" y="96856"/>
                  </a:cubicBezTo>
                  <a:lnTo>
                    <a:pt x="1263122" y="810689"/>
                  </a:lnTo>
                  <a:cubicBezTo>
                    <a:pt x="1263122" y="836377"/>
                    <a:pt x="1252918" y="861013"/>
                    <a:pt x="1234754" y="879177"/>
                  </a:cubicBezTo>
                  <a:cubicBezTo>
                    <a:pt x="1216589" y="897341"/>
                    <a:pt x="1191954" y="907546"/>
                    <a:pt x="1166266" y="907546"/>
                  </a:cubicBezTo>
                  <a:lnTo>
                    <a:pt x="96856" y="907546"/>
                  </a:lnTo>
                  <a:cubicBezTo>
                    <a:pt x="71168" y="907546"/>
                    <a:pt x="46533" y="897341"/>
                    <a:pt x="28369" y="879177"/>
                  </a:cubicBezTo>
                  <a:cubicBezTo>
                    <a:pt x="10204" y="861013"/>
                    <a:pt x="0" y="836377"/>
                    <a:pt x="0" y="810689"/>
                  </a:cubicBezTo>
                  <a:lnTo>
                    <a:pt x="0" y="96856"/>
                  </a:lnTo>
                  <a:cubicBezTo>
                    <a:pt x="0" y="71168"/>
                    <a:pt x="10204" y="46533"/>
                    <a:pt x="28369" y="28369"/>
                  </a:cubicBezTo>
                  <a:cubicBezTo>
                    <a:pt x="46533" y="10204"/>
                    <a:pt x="71168" y="0"/>
                    <a:pt x="96856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63122" cy="964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65804" y="5173457"/>
            <a:ext cx="1278010" cy="127801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474238" y="7402630"/>
            <a:ext cx="366114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Watch urgent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threats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348" y="5538546"/>
            <a:ext cx="6254625" cy="1665273"/>
            <a:chOff x="0" y="0"/>
            <a:chExt cx="1647309" cy="438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3975" y="5732178"/>
            <a:ext cx="1278010" cy="127801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9348" y="7395311"/>
            <a:ext cx="6254625" cy="1665273"/>
            <a:chOff x="0" y="0"/>
            <a:chExt cx="1647309" cy="4385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975" y="7588943"/>
            <a:ext cx="1278010" cy="127801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26546" y="5538546"/>
            <a:ext cx="6254625" cy="1665273"/>
            <a:chOff x="0" y="0"/>
            <a:chExt cx="1647309" cy="4385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81173" y="5732178"/>
            <a:ext cx="1278010" cy="127801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26546" y="7395311"/>
            <a:ext cx="6254625" cy="1665273"/>
            <a:chOff x="0" y="0"/>
            <a:chExt cx="1647309" cy="4385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47309" cy="438591"/>
            </a:xfrm>
            <a:custGeom>
              <a:avLst/>
              <a:gdLst/>
              <a:ahLst/>
              <a:cxnLst/>
              <a:rect l="l" t="t" r="r" b="b"/>
              <a:pathLst>
                <a:path w="1647309" h="438591">
                  <a:moveTo>
                    <a:pt x="123779" y="0"/>
                  </a:moveTo>
                  <a:lnTo>
                    <a:pt x="1523529" y="0"/>
                  </a:lnTo>
                  <a:cubicBezTo>
                    <a:pt x="1556358" y="0"/>
                    <a:pt x="1587841" y="13041"/>
                    <a:pt x="1611054" y="36254"/>
                  </a:cubicBezTo>
                  <a:cubicBezTo>
                    <a:pt x="1634267" y="59467"/>
                    <a:pt x="1647309" y="90951"/>
                    <a:pt x="1647309" y="123779"/>
                  </a:cubicBezTo>
                  <a:lnTo>
                    <a:pt x="1647309" y="314811"/>
                  </a:lnTo>
                  <a:cubicBezTo>
                    <a:pt x="1647309" y="347640"/>
                    <a:pt x="1634267" y="379123"/>
                    <a:pt x="1611054" y="402336"/>
                  </a:cubicBezTo>
                  <a:cubicBezTo>
                    <a:pt x="1587841" y="425550"/>
                    <a:pt x="1556358" y="438591"/>
                    <a:pt x="1523529" y="438591"/>
                  </a:cubicBezTo>
                  <a:lnTo>
                    <a:pt x="123779" y="438591"/>
                  </a:lnTo>
                  <a:cubicBezTo>
                    <a:pt x="90951" y="438591"/>
                    <a:pt x="59467" y="425550"/>
                    <a:pt x="36254" y="402336"/>
                  </a:cubicBezTo>
                  <a:cubicBezTo>
                    <a:pt x="13041" y="379123"/>
                    <a:pt x="0" y="347640"/>
                    <a:pt x="0" y="314811"/>
                  </a:cubicBezTo>
                  <a:lnTo>
                    <a:pt x="0" y="123779"/>
                  </a:lnTo>
                  <a:cubicBezTo>
                    <a:pt x="0" y="90951"/>
                    <a:pt x="13041" y="59467"/>
                    <a:pt x="36254" y="36254"/>
                  </a:cubicBezTo>
                  <a:cubicBezTo>
                    <a:pt x="59467" y="13041"/>
                    <a:pt x="90951" y="0"/>
                    <a:pt x="123779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647309" cy="49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81173" y="7588943"/>
            <a:ext cx="1278010" cy="127801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23975" y="1655041"/>
            <a:ext cx="14069961" cy="233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Social Engineering Tactics used by Attackers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57928" y="5885408"/>
            <a:ext cx="408427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Authority</a:t>
            </a:r>
          </a:p>
          <a:p>
            <a:pPr algn="l">
              <a:lnSpc>
                <a:spcPts val="3960"/>
              </a:lnSpc>
            </a:pPr>
            <a:endParaRPr lang="en-US" sz="3999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057928" y="7742172"/>
            <a:ext cx="408427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Reciprocity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15126" y="5885408"/>
            <a:ext cx="408427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Urgency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5126" y="7742172"/>
            <a:ext cx="43277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Fmiliarity</a:t>
            </a:r>
          </a:p>
        </p:txBody>
      </p:sp>
      <p:sp>
        <p:nvSpPr>
          <p:cNvPr id="31" name="Freeform 31"/>
          <p:cNvSpPr/>
          <p:nvPr/>
        </p:nvSpPr>
        <p:spPr>
          <a:xfrm flipH="1">
            <a:off x="12542662" y="1028700"/>
            <a:ext cx="7694364" cy="5525952"/>
          </a:xfrm>
          <a:custGeom>
            <a:avLst/>
            <a:gdLst/>
            <a:ahLst/>
            <a:cxnLst/>
            <a:rect l="l" t="t" r="r" b="b"/>
            <a:pathLst>
              <a:path w="7694364" h="5525952">
                <a:moveTo>
                  <a:pt x="7694364" y="0"/>
                </a:moveTo>
                <a:lnTo>
                  <a:pt x="0" y="0"/>
                </a:lnTo>
                <a:lnTo>
                  <a:pt x="0" y="5525952"/>
                </a:lnTo>
                <a:lnTo>
                  <a:pt x="7694364" y="5525952"/>
                </a:lnTo>
                <a:lnTo>
                  <a:pt x="76943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7916" y="3265687"/>
            <a:ext cx="8506084" cy="6758675"/>
          </a:xfrm>
          <a:custGeom>
            <a:avLst/>
            <a:gdLst/>
            <a:ahLst/>
            <a:cxnLst/>
            <a:rect l="l" t="t" r="r" b="b"/>
            <a:pathLst>
              <a:path w="8506084" h="6758675">
                <a:moveTo>
                  <a:pt x="0" y="0"/>
                </a:moveTo>
                <a:lnTo>
                  <a:pt x="8506084" y="0"/>
                </a:lnTo>
                <a:lnTo>
                  <a:pt x="8506084" y="6758674"/>
                </a:lnTo>
                <a:lnTo>
                  <a:pt x="0" y="6758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53" r="-22355" b="-700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0545" y="1409700"/>
            <a:ext cx="15530805" cy="153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10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Real-World Example</a:t>
            </a:r>
          </a:p>
          <a:p>
            <a:pPr algn="ctr">
              <a:lnSpc>
                <a:spcPts val="3840"/>
              </a:lnSpc>
            </a:pPr>
            <a:r>
              <a:rPr lang="en-US" sz="4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Anatomy of a Phishing Email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351763" y="2948326"/>
            <a:ext cx="7400005" cy="6882460"/>
            <a:chOff x="0" y="0"/>
            <a:chExt cx="1948972" cy="18126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8973" cy="1812665"/>
            </a:xfrm>
            <a:custGeom>
              <a:avLst/>
              <a:gdLst/>
              <a:ahLst/>
              <a:cxnLst/>
              <a:rect l="l" t="t" r="r" b="b"/>
              <a:pathLst>
                <a:path w="1948973" h="1812665">
                  <a:moveTo>
                    <a:pt x="41848" y="0"/>
                  </a:moveTo>
                  <a:lnTo>
                    <a:pt x="1907124" y="0"/>
                  </a:lnTo>
                  <a:cubicBezTo>
                    <a:pt x="1918223" y="0"/>
                    <a:pt x="1928867" y="4409"/>
                    <a:pt x="1936716" y="12257"/>
                  </a:cubicBezTo>
                  <a:cubicBezTo>
                    <a:pt x="1944563" y="20105"/>
                    <a:pt x="1948973" y="30749"/>
                    <a:pt x="1948973" y="41848"/>
                  </a:cubicBezTo>
                  <a:lnTo>
                    <a:pt x="1948973" y="1770816"/>
                  </a:lnTo>
                  <a:cubicBezTo>
                    <a:pt x="1948973" y="1781915"/>
                    <a:pt x="1944563" y="1792559"/>
                    <a:pt x="1936716" y="1800408"/>
                  </a:cubicBezTo>
                  <a:cubicBezTo>
                    <a:pt x="1928867" y="1808256"/>
                    <a:pt x="1918223" y="1812665"/>
                    <a:pt x="1907124" y="1812665"/>
                  </a:cubicBezTo>
                  <a:lnTo>
                    <a:pt x="41848" y="1812665"/>
                  </a:lnTo>
                  <a:cubicBezTo>
                    <a:pt x="30749" y="1812665"/>
                    <a:pt x="20105" y="1808256"/>
                    <a:pt x="12257" y="1800408"/>
                  </a:cubicBezTo>
                  <a:cubicBezTo>
                    <a:pt x="4409" y="1792559"/>
                    <a:pt x="0" y="1781915"/>
                    <a:pt x="0" y="1770816"/>
                  </a:cubicBezTo>
                  <a:lnTo>
                    <a:pt x="0" y="41848"/>
                  </a:lnTo>
                  <a:cubicBezTo>
                    <a:pt x="0" y="30749"/>
                    <a:pt x="4409" y="20105"/>
                    <a:pt x="12257" y="12257"/>
                  </a:cubicBezTo>
                  <a:cubicBezTo>
                    <a:pt x="20105" y="4409"/>
                    <a:pt x="30749" y="0"/>
                    <a:pt x="41848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948972" cy="1869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596140" y="3538938"/>
            <a:ext cx="875840" cy="8758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96140" y="5005328"/>
            <a:ext cx="879452" cy="87945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96140" y="6475330"/>
            <a:ext cx="879452" cy="87945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596140" y="8121082"/>
            <a:ext cx="879452" cy="87945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699009" y="3679330"/>
            <a:ext cx="470551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Fake Domain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09340" y="4948178"/>
            <a:ext cx="470551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Generic Greeting &amp;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No name used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09340" y="6418180"/>
            <a:ext cx="470551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Fear &amp; Urgency 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“24 Hours” threat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09340" y="7889475"/>
            <a:ext cx="470551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Suspicious URL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.ru foreign domain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143500"/>
            <a:ext cx="16230600" cy="6369775"/>
            <a:chOff x="0" y="0"/>
            <a:chExt cx="4274726" cy="1677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677636"/>
            </a:xfrm>
            <a:custGeom>
              <a:avLst/>
              <a:gdLst/>
              <a:ahLst/>
              <a:cxnLst/>
              <a:rect l="l" t="t" r="r" b="b"/>
              <a:pathLst>
                <a:path w="4274726" h="167763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629937"/>
                  </a:lnTo>
                  <a:cubicBezTo>
                    <a:pt x="4274726" y="1642588"/>
                    <a:pt x="4269700" y="1654720"/>
                    <a:pt x="4260755" y="1663666"/>
                  </a:cubicBezTo>
                  <a:cubicBezTo>
                    <a:pt x="4251809" y="1672611"/>
                    <a:pt x="4239677" y="1677636"/>
                    <a:pt x="4227026" y="1677636"/>
                  </a:cubicBezTo>
                  <a:lnTo>
                    <a:pt x="47700" y="1677636"/>
                  </a:lnTo>
                  <a:cubicBezTo>
                    <a:pt x="35049" y="1677636"/>
                    <a:pt x="22916" y="1672611"/>
                    <a:pt x="13971" y="1663666"/>
                  </a:cubicBezTo>
                  <a:cubicBezTo>
                    <a:pt x="5025" y="1654720"/>
                    <a:pt x="0" y="1642588"/>
                    <a:pt x="0" y="1629937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71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20012" y="6033317"/>
            <a:ext cx="1042670" cy="1042670"/>
          </a:xfrm>
          <a:custGeom>
            <a:avLst/>
            <a:gdLst/>
            <a:ahLst/>
            <a:cxnLst/>
            <a:rect l="l" t="t" r="r" b="b"/>
            <a:pathLst>
              <a:path w="1042670" h="1042670">
                <a:moveTo>
                  <a:pt x="0" y="0"/>
                </a:moveTo>
                <a:lnTo>
                  <a:pt x="1042670" y="0"/>
                </a:lnTo>
                <a:lnTo>
                  <a:pt x="1042670" y="1042670"/>
                </a:lnTo>
                <a:lnTo>
                  <a:pt x="0" y="104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820012" y="7622480"/>
            <a:ext cx="1042670" cy="10426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003217" y="7883147"/>
            <a:ext cx="676260" cy="521335"/>
          </a:xfrm>
          <a:custGeom>
            <a:avLst/>
            <a:gdLst/>
            <a:ahLst/>
            <a:cxnLst/>
            <a:rect l="l" t="t" r="r" b="b"/>
            <a:pathLst>
              <a:path w="676260" h="521335">
                <a:moveTo>
                  <a:pt x="0" y="0"/>
                </a:moveTo>
                <a:lnTo>
                  <a:pt x="676260" y="0"/>
                </a:lnTo>
                <a:lnTo>
                  <a:pt x="676260" y="521335"/>
                </a:lnTo>
                <a:lnTo>
                  <a:pt x="0" y="521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622665" y="6033317"/>
            <a:ext cx="1042670" cy="104267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22665" y="7807053"/>
            <a:ext cx="1042670" cy="104267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855857" y="6231529"/>
            <a:ext cx="626273" cy="646248"/>
          </a:xfrm>
          <a:custGeom>
            <a:avLst/>
            <a:gdLst/>
            <a:ahLst/>
            <a:cxnLst/>
            <a:rect l="l" t="t" r="r" b="b"/>
            <a:pathLst>
              <a:path w="626273" h="646248">
                <a:moveTo>
                  <a:pt x="0" y="0"/>
                </a:moveTo>
                <a:lnTo>
                  <a:pt x="626273" y="0"/>
                </a:lnTo>
                <a:lnTo>
                  <a:pt x="626273" y="646247"/>
                </a:lnTo>
                <a:lnTo>
                  <a:pt x="0" y="646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842228" y="8036492"/>
            <a:ext cx="603544" cy="583791"/>
          </a:xfrm>
          <a:custGeom>
            <a:avLst/>
            <a:gdLst/>
            <a:ahLst/>
            <a:cxnLst/>
            <a:rect l="l" t="t" r="r" b="b"/>
            <a:pathLst>
              <a:path w="603544" h="583791">
                <a:moveTo>
                  <a:pt x="0" y="0"/>
                </a:moveTo>
                <a:lnTo>
                  <a:pt x="603544" y="0"/>
                </a:lnTo>
                <a:lnTo>
                  <a:pt x="603544" y="583791"/>
                </a:lnTo>
                <a:lnTo>
                  <a:pt x="0" y="5837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972958" y="5976167"/>
            <a:ext cx="439847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Keep software up to date.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0012" y="1562100"/>
            <a:ext cx="10398800" cy="311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0"/>
              </a:lnSpc>
            </a:pPr>
            <a:r>
              <a:rPr lang="en-US" sz="14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Basic Security Practices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89704" y="5976167"/>
            <a:ext cx="439847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Don’t share sensitive information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89704" y="7653528"/>
            <a:ext cx="439847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Enable Multi-factor Auth(MFA)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72958" y="7653528"/>
            <a:ext cx="5810031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Avoid clicking on suspicious links or attachments.</a:t>
            </a:r>
          </a:p>
        </p:txBody>
      </p:sp>
      <p:sp>
        <p:nvSpPr>
          <p:cNvPr id="23" name="Freeform 23"/>
          <p:cNvSpPr/>
          <p:nvPr/>
        </p:nvSpPr>
        <p:spPr>
          <a:xfrm flipH="1">
            <a:off x="12542662" y="1028700"/>
            <a:ext cx="7694364" cy="5525952"/>
          </a:xfrm>
          <a:custGeom>
            <a:avLst/>
            <a:gdLst/>
            <a:ahLst/>
            <a:cxnLst/>
            <a:rect l="l" t="t" r="r" b="b"/>
            <a:pathLst>
              <a:path w="7694364" h="5525952">
                <a:moveTo>
                  <a:pt x="7694364" y="0"/>
                </a:moveTo>
                <a:lnTo>
                  <a:pt x="0" y="0"/>
                </a:lnTo>
                <a:lnTo>
                  <a:pt x="0" y="5525952"/>
                </a:lnTo>
                <a:lnTo>
                  <a:pt x="7694364" y="5525952"/>
                </a:lnTo>
                <a:lnTo>
                  <a:pt x="769436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6984" y="2048837"/>
            <a:ext cx="11355157" cy="224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10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What to Do If You get phished?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406232" y="4389084"/>
            <a:ext cx="4187215" cy="2443428"/>
            <a:chOff x="0" y="0"/>
            <a:chExt cx="1102806" cy="6435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2806" cy="643537"/>
            </a:xfrm>
            <a:custGeom>
              <a:avLst/>
              <a:gdLst/>
              <a:ahLst/>
              <a:cxnLst/>
              <a:rect l="l" t="t" r="r" b="b"/>
              <a:pathLst>
                <a:path w="1102806" h="643537">
                  <a:moveTo>
                    <a:pt x="110937" y="0"/>
                  </a:moveTo>
                  <a:lnTo>
                    <a:pt x="991869" y="0"/>
                  </a:lnTo>
                  <a:cubicBezTo>
                    <a:pt x="1053138" y="0"/>
                    <a:pt x="1102806" y="49668"/>
                    <a:pt x="1102806" y="110937"/>
                  </a:cubicBezTo>
                  <a:lnTo>
                    <a:pt x="1102806" y="532600"/>
                  </a:lnTo>
                  <a:cubicBezTo>
                    <a:pt x="1102806" y="593869"/>
                    <a:pt x="1053138" y="643537"/>
                    <a:pt x="991869" y="643537"/>
                  </a:cubicBezTo>
                  <a:lnTo>
                    <a:pt x="110937" y="643537"/>
                  </a:lnTo>
                  <a:cubicBezTo>
                    <a:pt x="49668" y="643537"/>
                    <a:pt x="0" y="593869"/>
                    <a:pt x="0" y="532600"/>
                  </a:cubicBezTo>
                  <a:lnTo>
                    <a:pt x="0" y="110937"/>
                  </a:lnTo>
                  <a:cubicBezTo>
                    <a:pt x="0" y="49668"/>
                    <a:pt x="49668" y="0"/>
                    <a:pt x="110937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02806" cy="70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Disconnect Immedietly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-1932809" y="2653744"/>
            <a:ext cx="4832593" cy="3470681"/>
          </a:xfrm>
          <a:custGeom>
            <a:avLst/>
            <a:gdLst/>
            <a:ahLst/>
            <a:cxnLst/>
            <a:rect l="l" t="t" r="r" b="b"/>
            <a:pathLst>
              <a:path w="4832593" h="3470681">
                <a:moveTo>
                  <a:pt x="0" y="0"/>
                </a:moveTo>
                <a:lnTo>
                  <a:pt x="4832593" y="0"/>
                </a:lnTo>
                <a:lnTo>
                  <a:pt x="4832593" y="3470681"/>
                </a:lnTo>
                <a:lnTo>
                  <a:pt x="0" y="3470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050393" y="4562824"/>
            <a:ext cx="4187215" cy="2443428"/>
            <a:chOff x="0" y="0"/>
            <a:chExt cx="1102806" cy="6435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2806" cy="643537"/>
            </a:xfrm>
            <a:custGeom>
              <a:avLst/>
              <a:gdLst/>
              <a:ahLst/>
              <a:cxnLst/>
              <a:rect l="l" t="t" r="r" b="b"/>
              <a:pathLst>
                <a:path w="1102806" h="643537">
                  <a:moveTo>
                    <a:pt x="110937" y="0"/>
                  </a:moveTo>
                  <a:lnTo>
                    <a:pt x="991869" y="0"/>
                  </a:lnTo>
                  <a:cubicBezTo>
                    <a:pt x="1053138" y="0"/>
                    <a:pt x="1102806" y="49668"/>
                    <a:pt x="1102806" y="110937"/>
                  </a:cubicBezTo>
                  <a:lnTo>
                    <a:pt x="1102806" y="532600"/>
                  </a:lnTo>
                  <a:cubicBezTo>
                    <a:pt x="1102806" y="593869"/>
                    <a:pt x="1053138" y="643537"/>
                    <a:pt x="991869" y="643537"/>
                  </a:cubicBezTo>
                  <a:lnTo>
                    <a:pt x="110937" y="643537"/>
                  </a:lnTo>
                  <a:cubicBezTo>
                    <a:pt x="49668" y="643537"/>
                    <a:pt x="0" y="593869"/>
                    <a:pt x="0" y="532600"/>
                  </a:cubicBezTo>
                  <a:lnTo>
                    <a:pt x="0" y="110937"/>
                  </a:lnTo>
                  <a:cubicBezTo>
                    <a:pt x="0" y="49668"/>
                    <a:pt x="49668" y="0"/>
                    <a:pt x="110937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02806" cy="70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Change your password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15522" y="4389084"/>
            <a:ext cx="4187215" cy="2443428"/>
            <a:chOff x="0" y="0"/>
            <a:chExt cx="1102806" cy="6435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2806" cy="643537"/>
            </a:xfrm>
            <a:custGeom>
              <a:avLst/>
              <a:gdLst/>
              <a:ahLst/>
              <a:cxnLst/>
              <a:rect l="l" t="t" r="r" b="b"/>
              <a:pathLst>
                <a:path w="1102806" h="643537">
                  <a:moveTo>
                    <a:pt x="110937" y="0"/>
                  </a:moveTo>
                  <a:lnTo>
                    <a:pt x="991869" y="0"/>
                  </a:lnTo>
                  <a:cubicBezTo>
                    <a:pt x="1053138" y="0"/>
                    <a:pt x="1102806" y="49668"/>
                    <a:pt x="1102806" y="110937"/>
                  </a:cubicBezTo>
                  <a:lnTo>
                    <a:pt x="1102806" y="532600"/>
                  </a:lnTo>
                  <a:cubicBezTo>
                    <a:pt x="1102806" y="593869"/>
                    <a:pt x="1053138" y="643537"/>
                    <a:pt x="991869" y="643537"/>
                  </a:cubicBezTo>
                  <a:lnTo>
                    <a:pt x="110937" y="643537"/>
                  </a:lnTo>
                  <a:cubicBezTo>
                    <a:pt x="49668" y="643537"/>
                    <a:pt x="0" y="593869"/>
                    <a:pt x="0" y="532600"/>
                  </a:cubicBezTo>
                  <a:lnTo>
                    <a:pt x="0" y="110937"/>
                  </a:lnTo>
                  <a:cubicBezTo>
                    <a:pt x="0" y="49668"/>
                    <a:pt x="49668" y="0"/>
                    <a:pt x="110937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02806" cy="70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Enable MFA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Now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06232" y="7277417"/>
            <a:ext cx="4187215" cy="2443428"/>
            <a:chOff x="0" y="0"/>
            <a:chExt cx="1102806" cy="6435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2806" cy="643537"/>
            </a:xfrm>
            <a:custGeom>
              <a:avLst/>
              <a:gdLst/>
              <a:ahLst/>
              <a:cxnLst/>
              <a:rect l="l" t="t" r="r" b="b"/>
              <a:pathLst>
                <a:path w="1102806" h="643537">
                  <a:moveTo>
                    <a:pt x="110937" y="0"/>
                  </a:moveTo>
                  <a:lnTo>
                    <a:pt x="991869" y="0"/>
                  </a:lnTo>
                  <a:cubicBezTo>
                    <a:pt x="1053138" y="0"/>
                    <a:pt x="1102806" y="49668"/>
                    <a:pt x="1102806" y="110937"/>
                  </a:cubicBezTo>
                  <a:lnTo>
                    <a:pt x="1102806" y="532600"/>
                  </a:lnTo>
                  <a:cubicBezTo>
                    <a:pt x="1102806" y="593869"/>
                    <a:pt x="1053138" y="643537"/>
                    <a:pt x="991869" y="643537"/>
                  </a:cubicBezTo>
                  <a:lnTo>
                    <a:pt x="110937" y="643537"/>
                  </a:lnTo>
                  <a:cubicBezTo>
                    <a:pt x="49668" y="643537"/>
                    <a:pt x="0" y="593869"/>
                    <a:pt x="0" y="532600"/>
                  </a:cubicBezTo>
                  <a:lnTo>
                    <a:pt x="0" y="110937"/>
                  </a:lnTo>
                  <a:cubicBezTo>
                    <a:pt x="0" y="49668"/>
                    <a:pt x="49668" y="0"/>
                    <a:pt x="110937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102806" cy="70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Notify IT/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Security Team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50393" y="7277417"/>
            <a:ext cx="4187215" cy="2443428"/>
            <a:chOff x="0" y="0"/>
            <a:chExt cx="1102806" cy="6435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02806" cy="643537"/>
            </a:xfrm>
            <a:custGeom>
              <a:avLst/>
              <a:gdLst/>
              <a:ahLst/>
              <a:cxnLst/>
              <a:rect l="l" t="t" r="r" b="b"/>
              <a:pathLst>
                <a:path w="1102806" h="643537">
                  <a:moveTo>
                    <a:pt x="110937" y="0"/>
                  </a:moveTo>
                  <a:lnTo>
                    <a:pt x="991869" y="0"/>
                  </a:lnTo>
                  <a:cubicBezTo>
                    <a:pt x="1053138" y="0"/>
                    <a:pt x="1102806" y="49668"/>
                    <a:pt x="1102806" y="110937"/>
                  </a:cubicBezTo>
                  <a:lnTo>
                    <a:pt x="1102806" y="532600"/>
                  </a:lnTo>
                  <a:cubicBezTo>
                    <a:pt x="1102806" y="593869"/>
                    <a:pt x="1053138" y="643537"/>
                    <a:pt x="991869" y="643537"/>
                  </a:cubicBezTo>
                  <a:lnTo>
                    <a:pt x="110937" y="643537"/>
                  </a:lnTo>
                  <a:cubicBezTo>
                    <a:pt x="49668" y="643537"/>
                    <a:pt x="0" y="593869"/>
                    <a:pt x="0" y="532600"/>
                  </a:cubicBezTo>
                  <a:lnTo>
                    <a:pt x="0" y="110937"/>
                  </a:lnTo>
                  <a:cubicBezTo>
                    <a:pt x="0" y="49668"/>
                    <a:pt x="49668" y="0"/>
                    <a:pt x="110937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102806" cy="70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Scan your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Device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915522" y="7441573"/>
            <a:ext cx="4187215" cy="2443428"/>
            <a:chOff x="0" y="0"/>
            <a:chExt cx="1102806" cy="6435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2806" cy="643537"/>
            </a:xfrm>
            <a:custGeom>
              <a:avLst/>
              <a:gdLst/>
              <a:ahLst/>
              <a:cxnLst/>
              <a:rect l="l" t="t" r="r" b="b"/>
              <a:pathLst>
                <a:path w="1102806" h="643537">
                  <a:moveTo>
                    <a:pt x="110937" y="0"/>
                  </a:moveTo>
                  <a:lnTo>
                    <a:pt x="991869" y="0"/>
                  </a:lnTo>
                  <a:cubicBezTo>
                    <a:pt x="1053138" y="0"/>
                    <a:pt x="1102806" y="49668"/>
                    <a:pt x="1102806" y="110937"/>
                  </a:cubicBezTo>
                  <a:lnTo>
                    <a:pt x="1102806" y="532600"/>
                  </a:lnTo>
                  <a:cubicBezTo>
                    <a:pt x="1102806" y="593869"/>
                    <a:pt x="1053138" y="643537"/>
                    <a:pt x="991869" y="643537"/>
                  </a:cubicBezTo>
                  <a:lnTo>
                    <a:pt x="110937" y="643537"/>
                  </a:lnTo>
                  <a:cubicBezTo>
                    <a:pt x="49668" y="643537"/>
                    <a:pt x="0" y="593869"/>
                    <a:pt x="0" y="532600"/>
                  </a:cubicBezTo>
                  <a:lnTo>
                    <a:pt x="0" y="110937"/>
                  </a:lnTo>
                  <a:cubicBezTo>
                    <a:pt x="0" y="49668"/>
                    <a:pt x="49668" y="0"/>
                    <a:pt x="110937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102806" cy="70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Report to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Authorities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81144" y="4858833"/>
            <a:ext cx="875840" cy="751965"/>
            <a:chOff x="0" y="0"/>
            <a:chExt cx="812800" cy="69784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97841"/>
            </a:xfrm>
            <a:custGeom>
              <a:avLst/>
              <a:gdLst/>
              <a:ahLst/>
              <a:cxnLst/>
              <a:rect l="l" t="t" r="r" b="b"/>
              <a:pathLst>
                <a:path w="812800" h="697841">
                  <a:moveTo>
                    <a:pt x="406400" y="0"/>
                  </a:moveTo>
                  <a:cubicBezTo>
                    <a:pt x="181951" y="0"/>
                    <a:pt x="0" y="156217"/>
                    <a:pt x="0" y="348921"/>
                  </a:cubicBezTo>
                  <a:cubicBezTo>
                    <a:pt x="0" y="541624"/>
                    <a:pt x="181951" y="697841"/>
                    <a:pt x="406400" y="697841"/>
                  </a:cubicBezTo>
                  <a:cubicBezTo>
                    <a:pt x="630849" y="697841"/>
                    <a:pt x="812800" y="541624"/>
                    <a:pt x="812800" y="348921"/>
                  </a:cubicBezTo>
                  <a:cubicBezTo>
                    <a:pt x="812800" y="15621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8273"/>
              <a:ext cx="660400" cy="624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50393" y="4767517"/>
            <a:ext cx="875840" cy="751965"/>
            <a:chOff x="0" y="0"/>
            <a:chExt cx="812800" cy="69784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697841"/>
            </a:xfrm>
            <a:custGeom>
              <a:avLst/>
              <a:gdLst/>
              <a:ahLst/>
              <a:cxnLst/>
              <a:rect l="l" t="t" r="r" b="b"/>
              <a:pathLst>
                <a:path w="812800" h="697841">
                  <a:moveTo>
                    <a:pt x="406400" y="0"/>
                  </a:moveTo>
                  <a:cubicBezTo>
                    <a:pt x="181951" y="0"/>
                    <a:pt x="0" y="156217"/>
                    <a:pt x="0" y="348921"/>
                  </a:cubicBezTo>
                  <a:cubicBezTo>
                    <a:pt x="0" y="541624"/>
                    <a:pt x="181951" y="697841"/>
                    <a:pt x="406400" y="697841"/>
                  </a:cubicBezTo>
                  <a:cubicBezTo>
                    <a:pt x="630849" y="697841"/>
                    <a:pt x="812800" y="541624"/>
                    <a:pt x="812800" y="348921"/>
                  </a:cubicBezTo>
                  <a:cubicBezTo>
                    <a:pt x="812800" y="15621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8273"/>
              <a:ext cx="660400" cy="624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15522" y="4767517"/>
            <a:ext cx="875840" cy="751965"/>
            <a:chOff x="0" y="0"/>
            <a:chExt cx="812800" cy="6978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697841"/>
            </a:xfrm>
            <a:custGeom>
              <a:avLst/>
              <a:gdLst/>
              <a:ahLst/>
              <a:cxnLst/>
              <a:rect l="l" t="t" r="r" b="b"/>
              <a:pathLst>
                <a:path w="812800" h="697841">
                  <a:moveTo>
                    <a:pt x="406400" y="0"/>
                  </a:moveTo>
                  <a:cubicBezTo>
                    <a:pt x="181951" y="0"/>
                    <a:pt x="0" y="156217"/>
                    <a:pt x="0" y="348921"/>
                  </a:cubicBezTo>
                  <a:cubicBezTo>
                    <a:pt x="0" y="541624"/>
                    <a:pt x="181951" y="697841"/>
                    <a:pt x="406400" y="697841"/>
                  </a:cubicBezTo>
                  <a:cubicBezTo>
                    <a:pt x="630849" y="697841"/>
                    <a:pt x="812800" y="541624"/>
                    <a:pt x="812800" y="348921"/>
                  </a:cubicBezTo>
                  <a:cubicBezTo>
                    <a:pt x="812800" y="15621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8273"/>
              <a:ext cx="660400" cy="624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81144" y="7441573"/>
            <a:ext cx="875840" cy="751965"/>
            <a:chOff x="0" y="0"/>
            <a:chExt cx="812800" cy="6978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697841"/>
            </a:xfrm>
            <a:custGeom>
              <a:avLst/>
              <a:gdLst/>
              <a:ahLst/>
              <a:cxnLst/>
              <a:rect l="l" t="t" r="r" b="b"/>
              <a:pathLst>
                <a:path w="812800" h="697841">
                  <a:moveTo>
                    <a:pt x="406400" y="0"/>
                  </a:moveTo>
                  <a:cubicBezTo>
                    <a:pt x="181951" y="0"/>
                    <a:pt x="0" y="156217"/>
                    <a:pt x="0" y="348921"/>
                  </a:cubicBezTo>
                  <a:cubicBezTo>
                    <a:pt x="0" y="541624"/>
                    <a:pt x="181951" y="697841"/>
                    <a:pt x="406400" y="697841"/>
                  </a:cubicBezTo>
                  <a:cubicBezTo>
                    <a:pt x="630849" y="697841"/>
                    <a:pt x="812800" y="541624"/>
                    <a:pt x="812800" y="348921"/>
                  </a:cubicBezTo>
                  <a:cubicBezTo>
                    <a:pt x="812800" y="15621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8273"/>
              <a:ext cx="660400" cy="624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198333" y="7482502"/>
            <a:ext cx="875840" cy="751965"/>
            <a:chOff x="0" y="0"/>
            <a:chExt cx="812800" cy="69784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697841"/>
            </a:xfrm>
            <a:custGeom>
              <a:avLst/>
              <a:gdLst/>
              <a:ahLst/>
              <a:cxnLst/>
              <a:rect l="l" t="t" r="r" b="b"/>
              <a:pathLst>
                <a:path w="812800" h="697841">
                  <a:moveTo>
                    <a:pt x="406400" y="0"/>
                  </a:moveTo>
                  <a:cubicBezTo>
                    <a:pt x="181951" y="0"/>
                    <a:pt x="0" y="156217"/>
                    <a:pt x="0" y="348921"/>
                  </a:cubicBezTo>
                  <a:cubicBezTo>
                    <a:pt x="0" y="541624"/>
                    <a:pt x="181951" y="697841"/>
                    <a:pt x="406400" y="697841"/>
                  </a:cubicBezTo>
                  <a:cubicBezTo>
                    <a:pt x="630849" y="697841"/>
                    <a:pt x="812800" y="541624"/>
                    <a:pt x="812800" y="348921"/>
                  </a:cubicBezTo>
                  <a:cubicBezTo>
                    <a:pt x="812800" y="15621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8273"/>
              <a:ext cx="660400" cy="624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15522" y="7482502"/>
            <a:ext cx="875840" cy="751965"/>
            <a:chOff x="0" y="0"/>
            <a:chExt cx="812800" cy="69784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697841"/>
            </a:xfrm>
            <a:custGeom>
              <a:avLst/>
              <a:gdLst/>
              <a:ahLst/>
              <a:cxnLst/>
              <a:rect l="l" t="t" r="r" b="b"/>
              <a:pathLst>
                <a:path w="812800" h="697841">
                  <a:moveTo>
                    <a:pt x="406400" y="0"/>
                  </a:moveTo>
                  <a:cubicBezTo>
                    <a:pt x="181951" y="0"/>
                    <a:pt x="0" y="156217"/>
                    <a:pt x="0" y="348921"/>
                  </a:cubicBezTo>
                  <a:cubicBezTo>
                    <a:pt x="0" y="541624"/>
                    <a:pt x="181951" y="697841"/>
                    <a:pt x="406400" y="697841"/>
                  </a:cubicBezTo>
                  <a:cubicBezTo>
                    <a:pt x="630849" y="697841"/>
                    <a:pt x="812800" y="541624"/>
                    <a:pt x="812800" y="348921"/>
                  </a:cubicBezTo>
                  <a:cubicBezTo>
                    <a:pt x="812800" y="15621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021C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8273"/>
              <a:ext cx="660400" cy="624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6984" y="2048837"/>
            <a:ext cx="11574032" cy="119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028700" y="2822162"/>
            <a:ext cx="15824494" cy="2078888"/>
            <a:chOff x="0" y="0"/>
            <a:chExt cx="4167768" cy="5475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67768" cy="547526"/>
            </a:xfrm>
            <a:custGeom>
              <a:avLst/>
              <a:gdLst/>
              <a:ahLst/>
              <a:cxnLst/>
              <a:rect l="l" t="t" r="r" b="b"/>
              <a:pathLst>
                <a:path w="4167768" h="547526">
                  <a:moveTo>
                    <a:pt x="29354" y="0"/>
                  </a:moveTo>
                  <a:lnTo>
                    <a:pt x="4138414" y="0"/>
                  </a:lnTo>
                  <a:cubicBezTo>
                    <a:pt x="4154626" y="0"/>
                    <a:pt x="4167768" y="13142"/>
                    <a:pt x="4167768" y="29354"/>
                  </a:cubicBezTo>
                  <a:lnTo>
                    <a:pt x="4167768" y="518172"/>
                  </a:lnTo>
                  <a:cubicBezTo>
                    <a:pt x="4167768" y="534384"/>
                    <a:pt x="4154626" y="547526"/>
                    <a:pt x="4138414" y="547526"/>
                  </a:cubicBezTo>
                  <a:lnTo>
                    <a:pt x="29354" y="547526"/>
                  </a:lnTo>
                  <a:cubicBezTo>
                    <a:pt x="13142" y="547526"/>
                    <a:pt x="0" y="534384"/>
                    <a:pt x="0" y="518172"/>
                  </a:cubicBezTo>
                  <a:lnTo>
                    <a:pt x="0" y="29354"/>
                  </a:lnTo>
                  <a:cubicBezTo>
                    <a:pt x="0" y="13142"/>
                    <a:pt x="13142" y="0"/>
                    <a:pt x="29354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167768" cy="595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You receive an email from "security@paypal.com asking you to verify your account. What do you do?</a:t>
              </a:r>
            </a:p>
            <a:p>
              <a:pPr algn="ctr">
                <a:lnSpc>
                  <a:spcPts val="3219"/>
                </a:lnSpc>
              </a:pPr>
              <a:endParaRPr lang="en-US" sz="22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            A) Click the link and verify                          B) Delete it-the domain is fake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C) Reply with your password                      D) Forward to a friend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E40A0A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Answer: B</a:t>
              </a:r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113626" y="511528"/>
            <a:ext cx="4832593" cy="3470681"/>
          </a:xfrm>
          <a:custGeom>
            <a:avLst/>
            <a:gdLst/>
            <a:ahLst/>
            <a:cxnLst/>
            <a:rect l="l" t="t" r="r" b="b"/>
            <a:pathLst>
              <a:path w="4832593" h="3470681">
                <a:moveTo>
                  <a:pt x="4832594" y="0"/>
                </a:moveTo>
                <a:lnTo>
                  <a:pt x="0" y="0"/>
                </a:lnTo>
                <a:lnTo>
                  <a:pt x="0" y="3470681"/>
                </a:lnTo>
                <a:lnTo>
                  <a:pt x="4832594" y="3470681"/>
                </a:lnTo>
                <a:lnTo>
                  <a:pt x="48325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19235" y="1073793"/>
            <a:ext cx="11574032" cy="105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QUICK QUIZ - TEST YOUR KNOWLEDGE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5143500"/>
            <a:ext cx="15824494" cy="1941075"/>
            <a:chOff x="0" y="0"/>
            <a:chExt cx="4167768" cy="511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67768" cy="511230"/>
            </a:xfrm>
            <a:custGeom>
              <a:avLst/>
              <a:gdLst/>
              <a:ahLst/>
              <a:cxnLst/>
              <a:rect l="l" t="t" r="r" b="b"/>
              <a:pathLst>
                <a:path w="4167768" h="511230">
                  <a:moveTo>
                    <a:pt x="29354" y="0"/>
                  </a:moveTo>
                  <a:lnTo>
                    <a:pt x="4138414" y="0"/>
                  </a:lnTo>
                  <a:cubicBezTo>
                    <a:pt x="4154626" y="0"/>
                    <a:pt x="4167768" y="13142"/>
                    <a:pt x="4167768" y="29354"/>
                  </a:cubicBezTo>
                  <a:lnTo>
                    <a:pt x="4167768" y="481876"/>
                  </a:lnTo>
                  <a:cubicBezTo>
                    <a:pt x="4167768" y="498087"/>
                    <a:pt x="4154626" y="511230"/>
                    <a:pt x="4138414" y="511230"/>
                  </a:cubicBezTo>
                  <a:lnTo>
                    <a:pt x="29354" y="511230"/>
                  </a:lnTo>
                  <a:cubicBezTo>
                    <a:pt x="13142" y="511230"/>
                    <a:pt x="0" y="498087"/>
                    <a:pt x="0" y="481876"/>
                  </a:cubicBezTo>
                  <a:lnTo>
                    <a:pt x="0" y="29354"/>
                  </a:lnTo>
                  <a:cubicBezTo>
                    <a:pt x="0" y="13142"/>
                    <a:pt x="13142" y="0"/>
                    <a:pt x="29354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67768" cy="558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An attacker targets a CEO with a personalized email using info from Linkedin. This is called?</a:t>
              </a:r>
            </a:p>
            <a:p>
              <a:pPr algn="ctr">
                <a:lnSpc>
                  <a:spcPts val="4479"/>
                </a:lnSpc>
              </a:pPr>
              <a:endParaRPr lang="en-US" sz="23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A) Email Phishing                     B) Smishing                     C) Spear Phishing/Whaling                  D) Clone Phishing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E6101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Answer: C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560825"/>
            <a:ext cx="15824494" cy="2248566"/>
            <a:chOff x="0" y="0"/>
            <a:chExt cx="4167768" cy="5922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67768" cy="592215"/>
            </a:xfrm>
            <a:custGeom>
              <a:avLst/>
              <a:gdLst/>
              <a:ahLst/>
              <a:cxnLst/>
              <a:rect l="l" t="t" r="r" b="b"/>
              <a:pathLst>
                <a:path w="4167768" h="592215">
                  <a:moveTo>
                    <a:pt x="29354" y="0"/>
                  </a:moveTo>
                  <a:lnTo>
                    <a:pt x="4138414" y="0"/>
                  </a:lnTo>
                  <a:cubicBezTo>
                    <a:pt x="4154626" y="0"/>
                    <a:pt x="4167768" y="13142"/>
                    <a:pt x="4167768" y="29354"/>
                  </a:cubicBezTo>
                  <a:lnTo>
                    <a:pt x="4167768" y="562861"/>
                  </a:lnTo>
                  <a:cubicBezTo>
                    <a:pt x="4167768" y="570646"/>
                    <a:pt x="4164675" y="578112"/>
                    <a:pt x="4159171" y="583617"/>
                  </a:cubicBezTo>
                  <a:cubicBezTo>
                    <a:pt x="4153665" y="589122"/>
                    <a:pt x="4146199" y="592215"/>
                    <a:pt x="4138414" y="592215"/>
                  </a:cubicBezTo>
                  <a:lnTo>
                    <a:pt x="29354" y="592215"/>
                  </a:lnTo>
                  <a:cubicBezTo>
                    <a:pt x="13142" y="592215"/>
                    <a:pt x="0" y="579073"/>
                    <a:pt x="0" y="562861"/>
                  </a:cubicBezTo>
                  <a:lnTo>
                    <a:pt x="0" y="29354"/>
                  </a:lnTo>
                  <a:cubicBezTo>
                    <a:pt x="0" y="13142"/>
                    <a:pt x="13142" y="0"/>
                    <a:pt x="29354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167768" cy="639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         Which is the BEST defense against phishing?                                                                                                            </a:t>
              </a:r>
            </a:p>
            <a:p>
              <a:pPr algn="ctr">
                <a:lnSpc>
                  <a:spcPts val="3079"/>
                </a:lnSpc>
              </a:pPr>
              <a:endParaRPr lang="en-US" sz="22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A) A strong antivirus only                 8) Never use the internet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C) MFA awareness training             D) Deleting your email      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E11414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Answer: 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2805318"/>
            <a:ext cx="856264" cy="85626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43500"/>
            <a:ext cx="908659" cy="90865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7560825"/>
            <a:ext cx="856264" cy="85626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1E8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7747" y="4820234"/>
            <a:ext cx="6353883" cy="4942019"/>
            <a:chOff x="0" y="0"/>
            <a:chExt cx="984383" cy="7656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383" cy="765648"/>
            </a:xfrm>
            <a:custGeom>
              <a:avLst/>
              <a:gdLst/>
              <a:ahLst/>
              <a:cxnLst/>
              <a:rect l="l" t="t" r="r" b="b"/>
              <a:pathLst>
                <a:path w="984383" h="765648">
                  <a:moveTo>
                    <a:pt x="121845" y="0"/>
                  </a:moveTo>
                  <a:lnTo>
                    <a:pt x="862537" y="0"/>
                  </a:lnTo>
                  <a:cubicBezTo>
                    <a:pt x="894853" y="0"/>
                    <a:pt x="925845" y="12837"/>
                    <a:pt x="948695" y="35688"/>
                  </a:cubicBezTo>
                  <a:cubicBezTo>
                    <a:pt x="971545" y="58538"/>
                    <a:pt x="984383" y="89530"/>
                    <a:pt x="984383" y="121845"/>
                  </a:cubicBezTo>
                  <a:lnTo>
                    <a:pt x="984383" y="643803"/>
                  </a:lnTo>
                  <a:cubicBezTo>
                    <a:pt x="984383" y="676118"/>
                    <a:pt x="971545" y="707110"/>
                    <a:pt x="948695" y="729960"/>
                  </a:cubicBezTo>
                  <a:cubicBezTo>
                    <a:pt x="925845" y="752811"/>
                    <a:pt x="894853" y="765648"/>
                    <a:pt x="862537" y="765648"/>
                  </a:cubicBezTo>
                  <a:lnTo>
                    <a:pt x="121845" y="765648"/>
                  </a:lnTo>
                  <a:cubicBezTo>
                    <a:pt x="54552" y="765648"/>
                    <a:pt x="0" y="711096"/>
                    <a:pt x="0" y="643803"/>
                  </a:cubicBezTo>
                  <a:lnTo>
                    <a:pt x="0" y="121845"/>
                  </a:lnTo>
                  <a:cubicBezTo>
                    <a:pt x="0" y="89530"/>
                    <a:pt x="12837" y="58538"/>
                    <a:pt x="35688" y="35688"/>
                  </a:cubicBezTo>
                  <a:cubicBezTo>
                    <a:pt x="58538" y="12837"/>
                    <a:pt x="89530" y="0"/>
                    <a:pt x="121845" y="0"/>
                  </a:cubicBezTo>
                  <a:close/>
                </a:path>
              </a:pathLst>
            </a:custGeom>
            <a:blipFill>
              <a:blip r:embed="rId2"/>
              <a:stretch>
                <a:fillRect l="-8334" r="-833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97403" y="1774921"/>
            <a:ext cx="7446597" cy="224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10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Conclusion and Next Steps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09655" y="891808"/>
            <a:ext cx="1004226" cy="100422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09655" y="2705832"/>
            <a:ext cx="1004226" cy="10042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09655" y="4519683"/>
            <a:ext cx="1004226" cy="100422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09655" y="6333533"/>
            <a:ext cx="1004226" cy="100422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09655" y="8147384"/>
            <a:ext cx="1004226" cy="100422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5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596911" y="1096424"/>
            <a:ext cx="6018761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Always verify the sender's email address - one typo can mean fraud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96911" y="2929497"/>
            <a:ext cx="5334778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Never click suspicious links - hover to inspect, or type URLs manually.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96911" y="4602696"/>
            <a:ext cx="5334778" cy="72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Enable MFA everywhere - your last line of defense if credentials are stolen.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96911" y="6547674"/>
            <a:ext cx="5662389" cy="78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Recognize social engineering: authority, urgency, fear are manipulation tools.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96911" y="8361525"/>
            <a:ext cx="5662389" cy="82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Report phishing immediately - protect yourself and your whole organization.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3993" y="3061717"/>
            <a:ext cx="7039846" cy="46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213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3379" y="1752326"/>
            <a:ext cx="5827998" cy="6782348"/>
            <a:chOff x="0" y="0"/>
            <a:chExt cx="1534946" cy="178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4946" cy="1786297"/>
            </a:xfrm>
            <a:custGeom>
              <a:avLst/>
              <a:gdLst/>
              <a:ahLst/>
              <a:cxnLst/>
              <a:rect l="l" t="t" r="r" b="b"/>
              <a:pathLst>
                <a:path w="1534946" h="1786297">
                  <a:moveTo>
                    <a:pt x="112914" y="0"/>
                  </a:moveTo>
                  <a:lnTo>
                    <a:pt x="1422032" y="0"/>
                  </a:lnTo>
                  <a:cubicBezTo>
                    <a:pt x="1484393" y="0"/>
                    <a:pt x="1534946" y="50553"/>
                    <a:pt x="1534946" y="112914"/>
                  </a:cubicBezTo>
                  <a:lnTo>
                    <a:pt x="1534946" y="1673383"/>
                  </a:lnTo>
                  <a:cubicBezTo>
                    <a:pt x="1534946" y="1735744"/>
                    <a:pt x="1484393" y="1786297"/>
                    <a:pt x="1422032" y="1786297"/>
                  </a:cubicBezTo>
                  <a:lnTo>
                    <a:pt x="112914" y="1786297"/>
                  </a:lnTo>
                  <a:cubicBezTo>
                    <a:pt x="82967" y="1786297"/>
                    <a:pt x="54247" y="1774401"/>
                    <a:pt x="33072" y="1753226"/>
                  </a:cubicBezTo>
                  <a:cubicBezTo>
                    <a:pt x="11896" y="1732050"/>
                    <a:pt x="0" y="1703330"/>
                    <a:pt x="0" y="1673383"/>
                  </a:cubicBezTo>
                  <a:lnTo>
                    <a:pt x="0" y="112914"/>
                  </a:lnTo>
                  <a:cubicBezTo>
                    <a:pt x="0" y="50553"/>
                    <a:pt x="50553" y="0"/>
                    <a:pt x="112914" y="0"/>
                  </a:cubicBezTo>
                  <a:close/>
                </a:path>
              </a:pathLst>
            </a:custGeom>
            <a:solidFill>
              <a:srgbClr val="9F24C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34946" cy="182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00037" y="2261617"/>
            <a:ext cx="4794683" cy="5763766"/>
            <a:chOff x="0" y="0"/>
            <a:chExt cx="742822" cy="8929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2822" cy="892958"/>
            </a:xfrm>
            <a:custGeom>
              <a:avLst/>
              <a:gdLst/>
              <a:ahLst/>
              <a:cxnLst/>
              <a:rect l="l" t="t" r="r" b="b"/>
              <a:pathLst>
                <a:path w="742822" h="892958">
                  <a:moveTo>
                    <a:pt x="101725" y="0"/>
                  </a:moveTo>
                  <a:lnTo>
                    <a:pt x="641097" y="0"/>
                  </a:lnTo>
                  <a:cubicBezTo>
                    <a:pt x="668076" y="0"/>
                    <a:pt x="693950" y="10717"/>
                    <a:pt x="713027" y="29795"/>
                  </a:cubicBezTo>
                  <a:cubicBezTo>
                    <a:pt x="732104" y="48872"/>
                    <a:pt x="742822" y="74746"/>
                    <a:pt x="742822" y="101725"/>
                  </a:cubicBezTo>
                  <a:lnTo>
                    <a:pt x="742822" y="791233"/>
                  </a:lnTo>
                  <a:cubicBezTo>
                    <a:pt x="742822" y="818212"/>
                    <a:pt x="732104" y="844086"/>
                    <a:pt x="713027" y="863164"/>
                  </a:cubicBezTo>
                  <a:cubicBezTo>
                    <a:pt x="693950" y="882241"/>
                    <a:pt x="668076" y="892958"/>
                    <a:pt x="641097" y="892958"/>
                  </a:cubicBezTo>
                  <a:lnTo>
                    <a:pt x="101725" y="892958"/>
                  </a:lnTo>
                  <a:cubicBezTo>
                    <a:pt x="74746" y="892958"/>
                    <a:pt x="48872" y="882241"/>
                    <a:pt x="29795" y="863164"/>
                  </a:cubicBezTo>
                  <a:cubicBezTo>
                    <a:pt x="10717" y="844086"/>
                    <a:pt x="0" y="818212"/>
                    <a:pt x="0" y="791233"/>
                  </a:cubicBezTo>
                  <a:lnTo>
                    <a:pt x="0" y="101725"/>
                  </a:lnTo>
                  <a:cubicBezTo>
                    <a:pt x="0" y="74746"/>
                    <a:pt x="10717" y="48872"/>
                    <a:pt x="29795" y="29795"/>
                  </a:cubicBezTo>
                  <a:cubicBezTo>
                    <a:pt x="48872" y="10717"/>
                    <a:pt x="74746" y="0"/>
                    <a:pt x="101725" y="0"/>
                  </a:cubicBezTo>
                  <a:close/>
                </a:path>
              </a:pathLst>
            </a:custGeom>
            <a:blipFill>
              <a:blip r:embed="rId2"/>
              <a:stretch>
                <a:fillRect t="-12389" b="-1238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flipH="1">
            <a:off x="15173573" y="1028700"/>
            <a:ext cx="4171454" cy="6234510"/>
          </a:xfrm>
          <a:custGeom>
            <a:avLst/>
            <a:gdLst/>
            <a:ahLst/>
            <a:cxnLst/>
            <a:rect l="l" t="t" r="r" b="b"/>
            <a:pathLst>
              <a:path w="4171454" h="6234510">
                <a:moveTo>
                  <a:pt x="4171454" y="0"/>
                </a:moveTo>
                <a:lnTo>
                  <a:pt x="0" y="0"/>
                </a:lnTo>
                <a:lnTo>
                  <a:pt x="0" y="6234510"/>
                </a:lnTo>
                <a:lnTo>
                  <a:pt x="4171454" y="6234510"/>
                </a:lnTo>
                <a:lnTo>
                  <a:pt x="41714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426</Words>
  <Application>Microsoft Office PowerPoint</Application>
  <PresentationFormat>Custom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Anton</vt:lpstr>
      <vt:lpstr>Varela Round</vt:lpstr>
      <vt:lpstr>Times New Roman</vt:lpstr>
      <vt:lpstr>Calibri</vt:lpstr>
      <vt:lpstr>Squada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Modern Cyber Secutiry Presentation</dc:title>
  <dc:creator>DELL</dc:creator>
  <cp:lastModifiedBy>Sana Arshad section C</cp:lastModifiedBy>
  <cp:revision>7</cp:revision>
  <dcterms:created xsi:type="dcterms:W3CDTF">2006-08-16T00:00:00Z</dcterms:created>
  <dcterms:modified xsi:type="dcterms:W3CDTF">2026-05-25T04:36:43Z</dcterms:modified>
  <dc:identifier>DAHKfecQadg</dc:identifier>
</cp:coreProperties>
</file>